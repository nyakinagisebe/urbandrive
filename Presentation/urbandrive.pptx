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65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75488" y="2633472"/>
            <a:ext cx="128016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7614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XGBoost-Based Regional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Needs Assessment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 Support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38404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JOMO KENYATTA UNIVERSITY OF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AND TECHNOLOGY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932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Information Technology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1207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530352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8249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Regressor-Based Regional Housing Needs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and Decision Support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Requirements Engineering, Risk Analysis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Project Management Study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3035808"/>
            <a:ext cx="530352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Nyakina Gisebe  |  SCT222-0742/2022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Isaac Oteyo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107 — IT Seminar Presentations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31673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housing deficit and developer pain 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7043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31673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1808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URBANDRIVE KENYA does and how it works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3911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218541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2130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specifications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03911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18541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2130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21808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mitigation strategies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0779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305409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0540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07008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budget and resource allocation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907792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305409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0540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2180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Evidence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matrix, usability scores and next steps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76472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" y="3922776"/>
            <a:ext cx="475488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392277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07008" y="38679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Benefits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07008" y="4142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to each stakeholder group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Housing Crisis &amp; Developer Challenges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2743200" cy="1828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housing units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annually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Kenya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1042416"/>
            <a:ext cx="5486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872" y="124358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41648" y="11338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41648" y="14264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siloed in large firms; small developers rely on guesswork.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64992" y="2048256"/>
            <a:ext cx="5486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24942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41648" y="2139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Fatigue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41648" y="2432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 of developers spend over 1 month on a manual feasibility study.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64992" y="3054096"/>
            <a:ext cx="54864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25526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41648" y="31455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Uncertainty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041648" y="34381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prices rose 5.20% in Q3 2025; static budgets can't absorb this.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069080"/>
            <a:ext cx="832104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1696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finding: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of developers stated that a data-backed Go/No-Go verdict would significantly improve their credibility with financiers.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PROPOSED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URBANDRIVE KENYA Delivers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43584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078992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Ingestion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+ OSM geospatial extraction replaces weeks of manual research.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55264" y="107899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243584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55264" y="1078992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19856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Intelligence Engine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19856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rental yields and property values with non-linear ML on NMA data.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53328" y="1078992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43584"/>
            <a:ext cx="365760" cy="3657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53328" y="1078992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Stress-Testing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17920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CIPI material-price volatility impact on ROI before capital is committed.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56032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724912"/>
            <a:ext cx="365760" cy="3657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2560320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21792" y="3218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1792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comes with a visual explanation of which factors drove the verdict.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55264" y="256032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724912"/>
            <a:ext cx="365760" cy="3657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255264" y="2560320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419856" y="3218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Hotspot Map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419856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of demand-supply gaps across NMA satellite towns.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053328" y="2560320"/>
            <a:ext cx="26334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724912"/>
            <a:ext cx="365760" cy="36576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053328" y="2560320"/>
            <a:ext cx="2633472" cy="54864"/>
          </a:xfrm>
          <a:prstGeom prst="roundRect">
            <a:avLst>
              <a:gd name="adj" fmla="val 13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217920" y="3218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Verdict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6217920" y="3529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Bankable, evidence-based decision output for developer-financier conversations.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PROPOSED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Four-Tier Stack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7432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078992"/>
            <a:ext cx="8028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Folium Maps  ·  HTML/CSS  ·  Font Awesome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4297680" y="1828800"/>
            <a:ext cx="365760" cy="12801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1975104"/>
            <a:ext cx="2743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1975104"/>
            <a:ext cx="8028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359152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·  Session management  ·  JSON REST endpoints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297680" y="2724912"/>
            <a:ext cx="365760" cy="1280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2871216"/>
            <a:ext cx="27432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2871216"/>
            <a:ext cx="8028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1440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14400" y="3255264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 ·  SHAP explainer  ·  Cost Engine  ·  CIPI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297680" y="3621024"/>
            <a:ext cx="365760" cy="12801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57200" y="3767328"/>
            <a:ext cx="27432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767328"/>
            <a:ext cx="80284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1440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14400" y="4151376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RDBMS  ·  .pkl / .joblib flat-file model artefacts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663440"/>
            <a:ext cx="832104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 User inputs → FastAPI → XGBoost → SHAP → Streamlit dashboard (≤5 s per verdict)  ·  Web scraper → CSV → XGBoost training pipeline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REQUIREMENTS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35024"/>
            <a:ext cx="5760720" cy="420624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08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408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0048" y="1408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listings + OSM geospatial extraction automatically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76672" y="140817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4081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37944"/>
            <a:ext cx="5760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110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1911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0048" y="19110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predicts rental yields &amp; property values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91109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9110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40864"/>
            <a:ext cx="5760720" cy="420624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140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07008" y="2414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Verdict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70048" y="2414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verdict: predicted yield vs cost + inflation + deficit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76672" y="241401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4140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43784"/>
            <a:ext cx="5760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16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07008" y="2916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0048" y="2916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CIPI material-price volatility impact on ROI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76672" y="291693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29169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46704"/>
            <a:ext cx="5760720" cy="420624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19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07008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70048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chart explains every prediction to the user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76672" y="341985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419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849624"/>
            <a:ext cx="5760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227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07008" y="39227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70048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map of demand-exceeding-supply areas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6672" y="3922776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39227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1060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1335024"/>
            <a:ext cx="24231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1335024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14264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17373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≤ 5 seconds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55080" y="2322576"/>
            <a:ext cx="24231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5080" y="2322576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2414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10528" y="27249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≥ 75 (achieved 4.4–4.8/5.0)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55080" y="3310128"/>
            <a:ext cx="24231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55080" y="3310128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0528" y="3401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10528" y="37124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hashing; Data Protection Act, 2019 compliant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RISK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Risks and Mitigations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70432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7043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53312" y="1188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83664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 breaks on site restructure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parsers + weekly health checks + cached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27632"/>
            <a:ext cx="83210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00784"/>
            <a:ext cx="8321040" cy="54864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792224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9222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53312" y="18105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83664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accuracy degrades (drift)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810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retraining + MAE monitoring + alert on &gt;10% rise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9424"/>
            <a:ext cx="83210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22576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414016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41401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53312" y="2432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83664" y="2432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training data (satellite towns)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4323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KNBS census; oversample underrepresented areas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871216"/>
            <a:ext cx="83210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44368"/>
            <a:ext cx="8321040" cy="54864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3580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358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53312" y="3054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83664" y="30540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distrust of ML verdicts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3054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SHAP explanations + onboarding tutorial + pilot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493008"/>
            <a:ext cx="83210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56616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65760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6576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353312" y="36758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83664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corruption or data loss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3675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cloud backups + ACID transactions + rollback tests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83210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87952"/>
            <a:ext cx="8321040" cy="54864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279392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793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353312" y="42976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883664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Act non-compliance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64608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= 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52160" y="4297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+ input sanitisation + privacy policy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PROJECT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Budget &amp; Resources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430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862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578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94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0" y="1078992"/>
            <a:ext cx="685800" cy="256032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01000" y="1078992"/>
            <a:ext cx="685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14447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+ Requirements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1664208"/>
            <a:ext cx="8229600" cy="16459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664208"/>
            <a:ext cx="20574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9019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2121408"/>
            <a:ext cx="8229600" cy="16459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2121408"/>
            <a:ext cx="20574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359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2578608"/>
            <a:ext cx="8229600" cy="16459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14600" y="2578608"/>
            <a:ext cx="2743200" cy="16459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8163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&amp; Implementation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035808"/>
            <a:ext cx="8229600" cy="16459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035808"/>
            <a:ext cx="274320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2735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Eval &amp; Docs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493008"/>
            <a:ext cx="8229600" cy="16459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3493008"/>
            <a:ext cx="20574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3977640"/>
            <a:ext cx="832104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096512"/>
            <a:ext cx="1554480" cy="65836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5,000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121408" y="4096512"/>
            <a:ext cx="1554480" cy="65836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21408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Comms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121408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6,500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785616" y="4096512"/>
            <a:ext cx="1554480" cy="65836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85616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85616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3,000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449824" y="4096512"/>
            <a:ext cx="1554480" cy="65836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49824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49824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5,500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114032" y="4096512"/>
            <a:ext cx="15544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14032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20,000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 &amp; EVIDENCE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 — All Tests Passed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2024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32888" y="1097280"/>
            <a:ext cx="192024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170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/ 5.0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19933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08576" y="1097280"/>
            <a:ext cx="1920240" cy="1417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170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5.0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08576" y="19933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score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84264" y="1097280"/>
            <a:ext cx="1920240" cy="14173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1170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5.0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84264" y="19933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2670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321040" cy="29260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35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303580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T01–T04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67328" y="30358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HTTP 401, session management, graceful fallback</a:t>
            </a:r>
            <a:endParaRPr lang="en-US" sz="10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3054096"/>
            <a:ext cx="182880" cy="1828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7200" y="3346704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3383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Tests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88920" y="338328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88920" y="3383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T05–T08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767328" y="33832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validation, negative values, multi-step navigation</a:t>
            </a:r>
            <a:endParaRPr lang="en-US" sz="105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401568"/>
            <a:ext cx="182880" cy="18288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57200" y="3694176"/>
            <a:ext cx="8321040" cy="29260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48640" y="37307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Tests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788920" y="373075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788920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T09–T12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767328" y="37307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land rates, tax rules, inflation compounding, levy computation</a:t>
            </a:r>
            <a:endParaRPr lang="en-US" sz="10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49040"/>
            <a:ext cx="182880" cy="18288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457200" y="4041648"/>
            <a:ext cx="8321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48640" y="4078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Integration Tests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2788920" y="407822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88920" y="4078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T13–T16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3767328" y="40782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loading, feature shape, log-inverse transform, ROI accuracy</a:t>
            </a:r>
            <a:endParaRPr lang="en-US" sz="105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096512"/>
            <a:ext cx="182880" cy="18288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457200" y="4389120"/>
            <a:ext cx="8321040" cy="292608"/>
          </a:xfrm>
          <a:prstGeom prst="rect">
            <a:avLst/>
          </a:prstGeom>
          <a:solidFill>
            <a:srgbClr val="E3EEF9"/>
          </a:solidFill>
          <a:ln w="12700">
            <a:solidFill>
              <a:srgbClr val="E3EEF9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48640" y="4425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Persistence Tests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2788920" y="442569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2788920" y="4425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T17–T20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3767328" y="44256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routing, database writes, transaction rollback, live scraping</a:t>
            </a:r>
            <a:endParaRPr lang="en-US" sz="105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44398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STAKEHOLDER BENEFITS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to Each Stakeholder Group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430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1704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Developers &amp; Landlords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0078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7824" y="166420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feasibility study from 4–6 weeks to &lt; 5 seconds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4086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" y="23042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KES 80,000+ consultant fees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98094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7824" y="29443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site selection and typology optimisation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6210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7824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Bankable Go/No-Go reports for loan applications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91840" y="10972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291840" y="1097280"/>
            <a:ext cx="26974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1143000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86200" y="11704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1700784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12464" y="166420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verifiable feasibility reports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144" y="2340864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12464" y="23042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due-diligence cost and processing time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144" y="2980944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12464" y="29443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creditworthiness assessment for housing loans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144" y="3621024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12464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default risk through evidence-based project appraisal</a:t>
            </a:r>
            <a:endParaRPr lang="en-US" sz="1050" dirty="0"/>
          </a:p>
        </p:txBody>
      </p:sp>
      <p:sp>
        <p:nvSpPr>
          <p:cNvPr id="31" name="Shape 19"/>
          <p:cNvSpPr/>
          <p:nvPr/>
        </p:nvSpPr>
        <p:spPr>
          <a:xfrm>
            <a:off x="6126480" y="109728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20"/>
          <p:cNvSpPr/>
          <p:nvPr/>
        </p:nvSpPr>
        <p:spPr>
          <a:xfrm>
            <a:off x="6126480" y="1097280"/>
            <a:ext cx="269748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1143000"/>
            <a:ext cx="329184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720840" y="11704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Planners</a:t>
            </a:r>
            <a:endParaRPr lang="en-US" sz="11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1700784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47104" y="166420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deficit hotspot maps for policy targeting</a:t>
            </a:r>
            <a:endParaRPr lang="en-US" sz="10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2784" y="2340864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547104" y="23042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zoning and infrastructure investment</a:t>
            </a:r>
            <a:endParaRPr lang="en-US" sz="10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2784" y="2980944"/>
            <a:ext cx="201168" cy="20116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547104" y="29443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national affordable housing programme</a:t>
            </a:r>
            <a:endParaRPr lang="en-US" sz="105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2784" y="3621024"/>
            <a:ext cx="201168" cy="201168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547104" y="35844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in private-sector housing supply tracking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PROPOSED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CRISP-DM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243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1261872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1865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NMA developer objectives; identify scattered data sources and quality gaps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55264" y="1115568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9856" y="1243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05072" y="1261872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9856" y="1865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cleaning, integration and transformation of scraper + OSM outputs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3328" y="1115568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43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03136" y="1261872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1865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 regressor; embed CIPI volatility simulation logic; SHAP integration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79776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29077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7008" y="2926080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" y="35295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verdicts against historical NMA trends; 20-case matrix; usability evaluation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55264" y="2779776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19856" y="29077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05072" y="2926080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19856" y="35295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FastAPI/Streamlit live interface; PostgreSQL persistence; one-click verdict export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3328" y="2779776"/>
            <a:ext cx="2633472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29077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03136" y="2926080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35295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Evaluation return to Data Understanding, driving continuous improvement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SCENARIO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 — Before &amp; After URBANDRIVE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60704"/>
            <a:ext cx="393192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931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60934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 of manual site visits and agent calls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6654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7627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1579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80,000+ in consultant / QS fees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615184"/>
            <a:ext cx="3931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2491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70662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spreadsheet unable to model CIPI volatility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1638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3552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25526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report — financier rejects application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712464"/>
            <a:ext cx="3931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2219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380390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misallocated to wrong typology / location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1060704"/>
            <a:ext cx="402336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754880" y="1060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URBANDRIVE KENYA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754880" y="1517904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1627632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12080" y="16093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seconds for a complete feasibility verdict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206654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217627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12080" y="21579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consultant fees — fully automated analysis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754880" y="2615184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272491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12080" y="27066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CIPI integration — stress-tests every scenario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54880" y="316382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3273552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12080" y="32552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 report ready for bank submission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4754880" y="3712464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822192"/>
            <a:ext cx="228600" cy="2286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212080" y="38039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 guides optimal site and typology choice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4023360" y="22128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  ·  Stakeholder Briefing  ·  Nyakina Gisebe  |  JKUAT  | 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503920" y="4828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 &amp; FUTURE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89888"/>
            <a:ext cx="54864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8132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limited to NMA; generalisation to other cities requires retraining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48256"/>
            <a:ext cx="54864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3969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residential typologies only; commercial/mixed-use not yet supported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06624"/>
            <a:ext cx="54864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9806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sensitive to source website restructuring (mitigated by R01 plan)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64992"/>
            <a:ext cx="54864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456432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sample of 16 respondents; larger study needed for statistical significance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— Version 2.0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499616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138928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Mombasa, Kisumu, Nakuru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63440" y="1847088"/>
            <a:ext cx="411480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116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38928" y="1993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commercial and mixed-use typologies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63440" y="2359152"/>
            <a:ext cx="411480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52374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38928" y="25054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retraining pipeline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663440" y="2871216"/>
            <a:ext cx="411480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03580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38928" y="3017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Progressive Web App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663440" y="3383280"/>
            <a:ext cx="411480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5478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38928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Land-registry API integration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663440" y="3895344"/>
            <a:ext cx="411480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059936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38928" y="40416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financial tool 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11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2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80467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75488" y="2011680"/>
            <a:ext cx="13716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URBANDRIVE KENYA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48716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blueprint for evidence-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affordable housing delivery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Kenya's regional urban centres.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01568" y="320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Achievements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7498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03904" y="7315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 test cases passed (verification + validation)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111556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03904" y="1371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scores 4.4–4.8 / 5.0 — exceeds SUS target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29000" y="175564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0299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3904" y="20116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research objectives met within KES 20,000 budget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429000" y="239572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67004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03904" y="26517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FRs and 6 NFRs fully specified, traced and validated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429000" y="303580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3101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03904" y="32918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project risks identified with specific mitigations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429000" y="367588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95020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03904" y="3931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12-week delivery plan — all milestones met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429000" y="4315968"/>
            <a:ext cx="534924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401568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Nyakina Gisebe  ·  SCT222-0742/2022  ·  JKUAT  ·  27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URBANDRIVE KENYA — Stakeholder Presentation</dc:title>
  <dc:subject>PptxGenJS Presentation</dc:subject>
  <dc:creator>Nyakina Gisebe</dc:creator>
  <cp:lastModifiedBy>Nyakina Gisebe</cp:lastModifiedBy>
  <cp:revision>1</cp:revision>
  <dcterms:created xsi:type="dcterms:W3CDTF">2026-05-28T07:26:48Z</dcterms:created>
  <dcterms:modified xsi:type="dcterms:W3CDTF">2026-05-28T07:26:48Z</dcterms:modified>
</cp:coreProperties>
</file>